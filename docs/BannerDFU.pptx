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"/>
  </p:notesMasterIdLst>
  <p:sldIdLst>
    <p:sldId id="257" r:id="rId2"/>
  </p:sldIdLst>
  <p:sldSz cx="32399288" cy="43200638"/>
  <p:notesSz cx="6858000" cy="9144000"/>
  <p:embeddedFontLst>
    <p:embeddedFont>
      <p:font typeface="Century Gothic" panose="020B0502020202020204" pitchFamily="34" charset="0"/>
      <p:regular r:id="rId4"/>
      <p:bold r:id="rId5"/>
      <p:italic r:id="rId6"/>
      <p:boldItalic r:id="rId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3606" userDrawn="1">
          <p15:clr>
            <a:srgbClr val="A4A3A4"/>
          </p15:clr>
        </p15:guide>
        <p15:guide id="2" pos="1020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FE4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10" autoAdjust="0"/>
    <p:restoredTop sz="94660"/>
  </p:normalViewPr>
  <p:slideViewPr>
    <p:cSldViewPr snapToGrid="0">
      <p:cViewPr>
        <p:scale>
          <a:sx n="25" d="100"/>
          <a:sy n="25" d="100"/>
        </p:scale>
        <p:origin x="14" y="-1018"/>
      </p:cViewPr>
      <p:guideLst>
        <p:guide orient="horz" pos="13606"/>
        <p:guide pos="1020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tableStyles" Target="tableStyles.xml"/><Relationship Id="rId5" Type="http://schemas.openxmlformats.org/officeDocument/2006/relationships/font" Target="fonts/font2.fntdata"/><Relationship Id="rId10" Type="http://schemas.openxmlformats.org/officeDocument/2006/relationships/theme" Target="theme/theme1.xml"/><Relationship Id="rId4" Type="http://schemas.openxmlformats.org/officeDocument/2006/relationships/font" Target="fonts/font1.fntdata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4049871" y="7070056"/>
            <a:ext cx="24299228" cy="15040111"/>
          </a:xfrm>
        </p:spPr>
        <p:txBody>
          <a:bodyPr anchor="b"/>
          <a:lstStyle>
            <a:lvl1pPr algn="ctr">
              <a:defRPr sz="15945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4049871" y="22690171"/>
            <a:ext cx="24299228" cy="10430074"/>
          </a:xfrm>
        </p:spPr>
        <p:txBody>
          <a:bodyPr/>
          <a:lstStyle>
            <a:lvl1pPr marL="0" indent="0" algn="ctr">
              <a:buNone/>
              <a:defRPr sz="6380"/>
            </a:lvl1pPr>
            <a:lvl2pPr marL="1214755" indent="0" algn="ctr">
              <a:buNone/>
              <a:defRPr sz="5315"/>
            </a:lvl2pPr>
            <a:lvl3pPr marL="2430145" indent="0" algn="ctr">
              <a:buNone/>
              <a:defRPr sz="4785"/>
            </a:lvl3pPr>
            <a:lvl4pPr marL="3644900" indent="0" algn="ctr">
              <a:buNone/>
              <a:defRPr sz="4250"/>
            </a:lvl4pPr>
            <a:lvl5pPr marL="4859655" indent="0" algn="ctr">
              <a:buNone/>
              <a:defRPr sz="4250"/>
            </a:lvl5pPr>
            <a:lvl6pPr marL="6075045" indent="0" algn="ctr">
              <a:buNone/>
              <a:defRPr sz="4250"/>
            </a:lvl6pPr>
            <a:lvl7pPr marL="7289800" indent="0" algn="ctr">
              <a:buNone/>
              <a:defRPr sz="4250"/>
            </a:lvl7pPr>
            <a:lvl8pPr marL="8504555" indent="0" algn="ctr">
              <a:buNone/>
              <a:defRPr sz="4250"/>
            </a:lvl8pPr>
            <a:lvl9pPr marL="9719945" indent="0" algn="ctr">
              <a:buNone/>
              <a:defRPr sz="425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 lang="pt-BR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 lang="pt-BR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210556" y="10770083"/>
            <a:ext cx="27944112" cy="17970130"/>
          </a:xfrm>
        </p:spPr>
        <p:txBody>
          <a:bodyPr anchor="b"/>
          <a:lstStyle>
            <a:lvl1pPr>
              <a:defRPr sz="15945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2210556" y="28910217"/>
            <a:ext cx="27944112" cy="9450067"/>
          </a:xfrm>
        </p:spPr>
        <p:txBody>
          <a:bodyPr/>
          <a:lstStyle>
            <a:lvl1pPr marL="0" indent="0">
              <a:buNone/>
              <a:defRPr sz="6380">
                <a:solidFill>
                  <a:schemeClr val="tx1">
                    <a:tint val="75000"/>
                  </a:schemeClr>
                </a:solidFill>
              </a:defRPr>
            </a:lvl1pPr>
            <a:lvl2pPr marL="1214755" indent="0">
              <a:buNone/>
              <a:defRPr sz="5315">
                <a:solidFill>
                  <a:schemeClr val="tx1">
                    <a:tint val="75000"/>
                  </a:schemeClr>
                </a:solidFill>
              </a:defRPr>
            </a:lvl2pPr>
            <a:lvl3pPr marL="2430145" indent="0">
              <a:buNone/>
              <a:defRPr sz="4785">
                <a:solidFill>
                  <a:schemeClr val="tx1">
                    <a:tint val="75000"/>
                  </a:schemeClr>
                </a:solidFill>
              </a:defRPr>
            </a:lvl3pPr>
            <a:lvl4pPr marL="3644900" indent="0">
              <a:buNone/>
              <a:defRPr sz="4250">
                <a:solidFill>
                  <a:schemeClr val="tx1">
                    <a:tint val="75000"/>
                  </a:schemeClr>
                </a:solidFill>
              </a:defRPr>
            </a:lvl4pPr>
            <a:lvl5pPr marL="4859655" indent="0">
              <a:buNone/>
              <a:defRPr sz="4250">
                <a:solidFill>
                  <a:schemeClr val="tx1">
                    <a:tint val="75000"/>
                  </a:schemeClr>
                </a:solidFill>
              </a:defRPr>
            </a:lvl5pPr>
            <a:lvl6pPr marL="6075045" indent="0">
              <a:buNone/>
              <a:defRPr sz="4250">
                <a:solidFill>
                  <a:schemeClr val="tx1">
                    <a:tint val="75000"/>
                  </a:schemeClr>
                </a:solidFill>
              </a:defRPr>
            </a:lvl6pPr>
            <a:lvl7pPr marL="7289800" indent="0">
              <a:buNone/>
              <a:defRPr sz="4250">
                <a:solidFill>
                  <a:schemeClr val="tx1">
                    <a:tint val="75000"/>
                  </a:schemeClr>
                </a:solidFill>
              </a:defRPr>
            </a:lvl7pPr>
            <a:lvl8pPr marL="8504555" indent="0">
              <a:buNone/>
              <a:defRPr sz="4250">
                <a:solidFill>
                  <a:schemeClr val="tx1">
                    <a:tint val="75000"/>
                  </a:schemeClr>
                </a:solidFill>
              </a:defRPr>
            </a:lvl8pPr>
            <a:lvl9pPr marL="9719945" indent="0">
              <a:buNone/>
              <a:defRPr sz="42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 lang="pt-BR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1619949" y="10080075"/>
            <a:ext cx="14287946" cy="28510214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16491076" y="10080075"/>
            <a:ext cx="14287946" cy="28510214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 lang="pt-BR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231649" y="2300017"/>
            <a:ext cx="27944112" cy="8350065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2231649" y="10590082"/>
            <a:ext cx="13706281" cy="5190035"/>
          </a:xfrm>
        </p:spPr>
        <p:txBody>
          <a:bodyPr anchor="b"/>
          <a:lstStyle>
            <a:lvl1pPr marL="0" indent="0">
              <a:buNone/>
              <a:defRPr sz="6380" b="1"/>
            </a:lvl1pPr>
            <a:lvl2pPr marL="1214755" indent="0">
              <a:buNone/>
              <a:defRPr sz="5315" b="1"/>
            </a:lvl2pPr>
            <a:lvl3pPr marL="2430145" indent="0">
              <a:buNone/>
              <a:defRPr sz="4785" b="1"/>
            </a:lvl3pPr>
            <a:lvl4pPr marL="3644900" indent="0">
              <a:buNone/>
              <a:defRPr sz="4250" b="1"/>
            </a:lvl4pPr>
            <a:lvl5pPr marL="4859655" indent="0">
              <a:buNone/>
              <a:defRPr sz="4250" b="1"/>
            </a:lvl5pPr>
            <a:lvl6pPr marL="6075045" indent="0">
              <a:buNone/>
              <a:defRPr sz="4250" b="1"/>
            </a:lvl6pPr>
            <a:lvl7pPr marL="7289800" indent="0">
              <a:buNone/>
              <a:defRPr sz="4250" b="1"/>
            </a:lvl7pPr>
            <a:lvl8pPr marL="8504555" indent="0">
              <a:buNone/>
              <a:defRPr sz="4250" b="1"/>
            </a:lvl8pPr>
            <a:lvl9pPr marL="9719945" indent="0">
              <a:buNone/>
              <a:defRPr sz="425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2231649" y="15780117"/>
            <a:ext cx="13706281" cy="23210175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16401979" y="10590082"/>
            <a:ext cx="13773782" cy="5190035"/>
          </a:xfrm>
        </p:spPr>
        <p:txBody>
          <a:bodyPr anchor="b"/>
          <a:lstStyle>
            <a:lvl1pPr marL="0" indent="0">
              <a:buNone/>
              <a:defRPr sz="6380" b="1"/>
            </a:lvl1pPr>
            <a:lvl2pPr marL="1214755" indent="0">
              <a:buNone/>
              <a:defRPr sz="5315" b="1"/>
            </a:lvl2pPr>
            <a:lvl3pPr marL="2430145" indent="0">
              <a:buNone/>
              <a:defRPr sz="4785" b="1"/>
            </a:lvl3pPr>
            <a:lvl4pPr marL="3644900" indent="0">
              <a:buNone/>
              <a:defRPr sz="4250" b="1"/>
            </a:lvl4pPr>
            <a:lvl5pPr marL="4859655" indent="0">
              <a:buNone/>
              <a:defRPr sz="4250" b="1"/>
            </a:lvl5pPr>
            <a:lvl6pPr marL="6075045" indent="0">
              <a:buNone/>
              <a:defRPr sz="4250" b="1"/>
            </a:lvl6pPr>
            <a:lvl7pPr marL="7289800" indent="0">
              <a:buNone/>
              <a:defRPr sz="4250" b="1"/>
            </a:lvl7pPr>
            <a:lvl8pPr marL="8504555" indent="0">
              <a:buNone/>
              <a:defRPr sz="4250" b="1"/>
            </a:lvl8pPr>
            <a:lvl9pPr marL="9719945" indent="0">
              <a:buNone/>
              <a:defRPr sz="425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16401979" y="15780117"/>
            <a:ext cx="13773782" cy="23210175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 lang="pt-BR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 lang="pt-BR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 lang="pt-BR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231649" y="2880021"/>
            <a:ext cx="10449511" cy="10080075"/>
          </a:xfrm>
        </p:spPr>
        <p:txBody>
          <a:bodyPr anchor="b"/>
          <a:lstStyle>
            <a:lvl1pPr>
              <a:defRPr sz="8505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3773782" y="6220046"/>
            <a:ext cx="16401979" cy="30700227"/>
          </a:xfrm>
        </p:spPr>
        <p:txBody>
          <a:bodyPr/>
          <a:lstStyle>
            <a:lvl1pPr>
              <a:defRPr sz="8505"/>
            </a:lvl1pPr>
            <a:lvl2pPr>
              <a:defRPr sz="7440"/>
            </a:lvl2pPr>
            <a:lvl3pPr>
              <a:defRPr sz="6380"/>
            </a:lvl3pPr>
            <a:lvl4pPr>
              <a:defRPr sz="5315"/>
            </a:lvl4pPr>
            <a:lvl5pPr>
              <a:defRPr sz="5315"/>
            </a:lvl5pPr>
            <a:lvl6pPr>
              <a:defRPr sz="5315"/>
            </a:lvl6pPr>
            <a:lvl7pPr>
              <a:defRPr sz="5315"/>
            </a:lvl7pPr>
            <a:lvl8pPr>
              <a:defRPr sz="5315"/>
            </a:lvl8pPr>
            <a:lvl9pPr>
              <a:defRPr sz="5315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2231649" y="12960096"/>
            <a:ext cx="10449511" cy="24010181"/>
          </a:xfrm>
        </p:spPr>
        <p:txBody>
          <a:bodyPr/>
          <a:lstStyle>
            <a:lvl1pPr marL="0" indent="0">
              <a:buNone/>
              <a:defRPr sz="4250"/>
            </a:lvl1pPr>
            <a:lvl2pPr marL="1214755" indent="0">
              <a:buNone/>
              <a:defRPr sz="3720"/>
            </a:lvl2pPr>
            <a:lvl3pPr marL="2430145" indent="0">
              <a:buNone/>
              <a:defRPr sz="3190"/>
            </a:lvl3pPr>
            <a:lvl4pPr marL="3644900" indent="0">
              <a:buNone/>
              <a:defRPr sz="2655"/>
            </a:lvl4pPr>
            <a:lvl5pPr marL="4859655" indent="0">
              <a:buNone/>
              <a:defRPr sz="2655"/>
            </a:lvl5pPr>
            <a:lvl6pPr marL="6075045" indent="0">
              <a:buNone/>
              <a:defRPr sz="2655"/>
            </a:lvl6pPr>
            <a:lvl7pPr marL="7289800" indent="0">
              <a:buNone/>
              <a:defRPr sz="2655"/>
            </a:lvl7pPr>
            <a:lvl8pPr marL="8504555" indent="0">
              <a:buNone/>
              <a:defRPr sz="2655"/>
            </a:lvl8pPr>
            <a:lvl9pPr marL="9719945" indent="0">
              <a:buNone/>
              <a:defRPr sz="2655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 lang="pt-BR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231649" y="2880021"/>
            <a:ext cx="10449511" cy="10080075"/>
          </a:xfrm>
        </p:spPr>
        <p:txBody>
          <a:bodyPr anchor="b"/>
          <a:lstStyle>
            <a:lvl1pPr>
              <a:defRPr sz="8505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3773782" y="6220046"/>
            <a:ext cx="16401979" cy="30700227"/>
          </a:xfrm>
        </p:spPr>
        <p:txBody>
          <a:bodyPr/>
          <a:lstStyle>
            <a:lvl1pPr marL="0" indent="0">
              <a:buNone/>
              <a:defRPr sz="8505"/>
            </a:lvl1pPr>
            <a:lvl2pPr marL="1214755" indent="0">
              <a:buNone/>
              <a:defRPr sz="7440"/>
            </a:lvl2pPr>
            <a:lvl3pPr marL="2430145" indent="0">
              <a:buNone/>
              <a:defRPr sz="6380"/>
            </a:lvl3pPr>
            <a:lvl4pPr marL="3644900" indent="0">
              <a:buNone/>
              <a:defRPr sz="5315"/>
            </a:lvl4pPr>
            <a:lvl5pPr marL="4859655" indent="0">
              <a:buNone/>
              <a:defRPr sz="5315"/>
            </a:lvl5pPr>
            <a:lvl6pPr marL="6075045" indent="0">
              <a:buNone/>
              <a:defRPr sz="5315"/>
            </a:lvl6pPr>
            <a:lvl7pPr marL="7289800" indent="0">
              <a:buNone/>
              <a:defRPr sz="5315"/>
            </a:lvl7pPr>
            <a:lvl8pPr marL="8504555" indent="0">
              <a:buNone/>
              <a:defRPr sz="5315"/>
            </a:lvl8pPr>
            <a:lvl9pPr marL="9719945" indent="0">
              <a:buNone/>
              <a:defRPr sz="5315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2231649" y="12960096"/>
            <a:ext cx="10449511" cy="24010181"/>
          </a:xfrm>
        </p:spPr>
        <p:txBody>
          <a:bodyPr/>
          <a:lstStyle>
            <a:lvl1pPr marL="0" indent="0">
              <a:buNone/>
              <a:defRPr sz="4250"/>
            </a:lvl1pPr>
            <a:lvl2pPr marL="1214755" indent="0">
              <a:buNone/>
              <a:defRPr sz="3720"/>
            </a:lvl2pPr>
            <a:lvl3pPr marL="2430145" indent="0">
              <a:buNone/>
              <a:defRPr sz="3190"/>
            </a:lvl3pPr>
            <a:lvl4pPr marL="3644900" indent="0">
              <a:buNone/>
              <a:defRPr sz="2655"/>
            </a:lvl4pPr>
            <a:lvl5pPr marL="4859655" indent="0">
              <a:buNone/>
              <a:defRPr sz="2655"/>
            </a:lvl5pPr>
            <a:lvl6pPr marL="6075045" indent="0">
              <a:buNone/>
              <a:defRPr sz="2655"/>
            </a:lvl6pPr>
            <a:lvl7pPr marL="7289800" indent="0">
              <a:buNone/>
              <a:defRPr sz="2655"/>
            </a:lvl7pPr>
            <a:lvl8pPr marL="8504555" indent="0">
              <a:buNone/>
              <a:defRPr sz="2655"/>
            </a:lvl8pPr>
            <a:lvl9pPr marL="9719945" indent="0">
              <a:buNone/>
              <a:defRPr sz="2655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 lang="pt-BR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 lang="pt-BR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23489253" y="1730016"/>
            <a:ext cx="7289768" cy="36860273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1619949" y="1730016"/>
            <a:ext cx="21446708" cy="36860273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 lang="pt-BR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0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ítulo 1025"/>
          <p:cNvSpPr>
            <a:spLocks noGrp="1"/>
          </p:cNvSpPr>
          <p:nvPr>
            <p:ph type="title"/>
          </p:nvPr>
        </p:nvSpPr>
        <p:spPr>
          <a:xfrm>
            <a:off x="1619949" y="1730016"/>
            <a:ext cx="29159073" cy="720005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t>Clique para editar o estilo do título mestre</a:t>
            </a:r>
          </a:p>
        </p:txBody>
      </p:sp>
      <p:sp>
        <p:nvSpPr>
          <p:cNvPr id="1027" name="Espaço Reservado para Texto 1026"/>
          <p:cNvSpPr>
            <a:spLocks noGrp="1"/>
          </p:cNvSpPr>
          <p:nvPr>
            <p:ph type="body" idx="1"/>
          </p:nvPr>
        </p:nvSpPr>
        <p:spPr>
          <a:xfrm>
            <a:off x="1619949" y="10080075"/>
            <a:ext cx="29159073" cy="28510214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t>Clique para editar os estilos do texto mestre</a:t>
            </a:r>
          </a:p>
          <a:p>
            <a:pPr lvl="1"/>
            <a:r>
              <a:t>Segundo nível</a:t>
            </a:r>
          </a:p>
          <a:p>
            <a:pPr lvl="2"/>
            <a:r>
              <a:t>Terceiro nível</a:t>
            </a:r>
          </a:p>
          <a:p>
            <a:pPr lvl="3"/>
            <a:r>
              <a:t>Quarto nível</a:t>
            </a:r>
          </a:p>
          <a:p>
            <a:pPr lvl="4"/>
            <a:r>
              <a:t>Quinto nível</a:t>
            </a:r>
          </a:p>
        </p:txBody>
      </p:sp>
      <p:sp>
        <p:nvSpPr>
          <p:cNvPr id="1028" name="Espaço Reservado para Data 1027"/>
          <p:cNvSpPr>
            <a:spLocks noGrp="1"/>
          </p:cNvSpPr>
          <p:nvPr>
            <p:ph type="dt" sz="half" idx="2"/>
          </p:nvPr>
        </p:nvSpPr>
        <p:spPr>
          <a:xfrm>
            <a:off x="1619949" y="39340291"/>
            <a:ext cx="7559760" cy="3000022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4960"/>
            </a:lvl1pPr>
          </a:lstStyle>
          <a:p>
            <a:endParaRPr/>
          </a:p>
        </p:txBody>
      </p:sp>
      <p:sp>
        <p:nvSpPr>
          <p:cNvPr id="1029" name="Espaço Reservado para Rodapé 1028"/>
          <p:cNvSpPr>
            <a:spLocks noGrp="1"/>
          </p:cNvSpPr>
          <p:nvPr>
            <p:ph type="ftr" sz="quarter" idx="3"/>
          </p:nvPr>
        </p:nvSpPr>
        <p:spPr>
          <a:xfrm>
            <a:off x="11069648" y="39340291"/>
            <a:ext cx="10259674" cy="3000022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4960"/>
            </a:lvl1pPr>
          </a:lstStyle>
          <a:p>
            <a:endParaRPr/>
          </a:p>
        </p:txBody>
      </p:sp>
      <p:sp>
        <p:nvSpPr>
          <p:cNvPr id="1030" name="Espaço Reservado para Número de Slide 1029"/>
          <p:cNvSpPr>
            <a:spLocks noGrp="1"/>
          </p:cNvSpPr>
          <p:nvPr>
            <p:ph type="sldNum" sz="quarter" idx="4"/>
          </p:nvPr>
        </p:nvSpPr>
        <p:spPr>
          <a:xfrm>
            <a:off x="23219262" y="39340291"/>
            <a:ext cx="7559760" cy="3000022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4960"/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marL="0" lvl="0" indent="0" algn="ctr" defTabSz="323977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559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214755" lvl="0" indent="-1214755" algn="l" defTabSz="3239770" eaLnBrk="1" fontAlgn="base" latinLnBrk="0" hangingPunct="1">
        <a:lnSpc>
          <a:spcPct val="100000"/>
        </a:lnSpc>
        <a:spcBef>
          <a:spcPts val="350"/>
        </a:spcBef>
        <a:spcAft>
          <a:spcPct val="0"/>
        </a:spcAft>
        <a:buChar char="•"/>
        <a:defRPr sz="1134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2632710" lvl="1" indent="-1012190" algn="l" defTabSz="3239770" eaLnBrk="1" fontAlgn="base" latinLnBrk="0" hangingPunct="1">
        <a:lnSpc>
          <a:spcPct val="100000"/>
        </a:lnSpc>
        <a:spcBef>
          <a:spcPts val="350"/>
        </a:spcBef>
        <a:spcAft>
          <a:spcPct val="0"/>
        </a:spcAft>
        <a:buChar char="–"/>
        <a:defRPr sz="992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4050030" lvl="2" indent="-810260" algn="l" defTabSz="3239770" eaLnBrk="1" fontAlgn="base" latinLnBrk="0" hangingPunct="1">
        <a:lnSpc>
          <a:spcPct val="100000"/>
        </a:lnSpc>
        <a:spcBef>
          <a:spcPts val="350"/>
        </a:spcBef>
        <a:spcAft>
          <a:spcPct val="0"/>
        </a:spcAft>
        <a:buChar char="•"/>
        <a:defRPr sz="8505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5669915" lvl="3" indent="-810260" algn="l" defTabSz="3239770" eaLnBrk="1" fontAlgn="base" latinLnBrk="0" hangingPunct="1">
        <a:lnSpc>
          <a:spcPct val="100000"/>
        </a:lnSpc>
        <a:spcBef>
          <a:spcPts val="350"/>
        </a:spcBef>
        <a:spcAft>
          <a:spcPct val="0"/>
        </a:spcAft>
        <a:buChar char="–"/>
        <a:defRPr sz="7085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7289800" lvl="4" indent="-810260" algn="l" defTabSz="3239770" eaLnBrk="1" fontAlgn="base" latinLnBrk="0" hangingPunct="1">
        <a:lnSpc>
          <a:spcPct val="100000"/>
        </a:lnSpc>
        <a:spcBef>
          <a:spcPts val="350"/>
        </a:spcBef>
        <a:spcAft>
          <a:spcPct val="0"/>
        </a:spcAft>
        <a:buChar char="»"/>
        <a:defRPr sz="7085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8909685" lvl="5" indent="-810260" algn="l" defTabSz="3239770" eaLnBrk="1" fontAlgn="base" latinLnBrk="0" hangingPunct="1">
        <a:lnSpc>
          <a:spcPct val="100000"/>
        </a:lnSpc>
        <a:spcBef>
          <a:spcPts val="350"/>
        </a:spcBef>
        <a:spcAft>
          <a:spcPct val="0"/>
        </a:spcAft>
        <a:buChar char="»"/>
        <a:defRPr sz="7085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0529570" lvl="6" indent="-810260" algn="l" defTabSz="3239770" eaLnBrk="1" fontAlgn="base" latinLnBrk="0" hangingPunct="1">
        <a:lnSpc>
          <a:spcPct val="100000"/>
        </a:lnSpc>
        <a:spcBef>
          <a:spcPts val="350"/>
        </a:spcBef>
        <a:spcAft>
          <a:spcPct val="0"/>
        </a:spcAft>
        <a:buChar char="»"/>
        <a:defRPr sz="7085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2149455" lvl="7" indent="-810260" algn="l" defTabSz="3239770" eaLnBrk="1" fontAlgn="base" latinLnBrk="0" hangingPunct="1">
        <a:lnSpc>
          <a:spcPct val="100000"/>
        </a:lnSpc>
        <a:spcBef>
          <a:spcPts val="350"/>
        </a:spcBef>
        <a:spcAft>
          <a:spcPct val="0"/>
        </a:spcAft>
        <a:buChar char="»"/>
        <a:defRPr sz="7085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3769340" lvl="8" indent="-810260" algn="l" defTabSz="3239770" eaLnBrk="1" fontAlgn="base" latinLnBrk="0" hangingPunct="1">
        <a:lnSpc>
          <a:spcPct val="100000"/>
        </a:lnSpc>
        <a:spcBef>
          <a:spcPts val="350"/>
        </a:spcBef>
        <a:spcAft>
          <a:spcPct val="0"/>
        </a:spcAft>
        <a:buChar char="»"/>
        <a:defRPr sz="7085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323977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638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1619885" lvl="1" indent="0" algn="l" defTabSz="323977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2pPr>
      <a:lvl3pPr marL="3239770" lvl="2" indent="0" algn="l" defTabSz="323977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3pPr>
      <a:lvl4pPr marL="4859655" lvl="3" indent="0" algn="l" defTabSz="323977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4pPr>
      <a:lvl5pPr marL="6479540" lvl="4" indent="0" algn="l" defTabSz="323977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5pPr>
      <a:lvl6pPr marL="8100060" lvl="5" indent="0" algn="l" defTabSz="323977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6pPr>
      <a:lvl7pPr marL="9719945" lvl="6" indent="0" algn="l" defTabSz="323977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7pPr>
      <a:lvl8pPr marL="11339830" lvl="7" indent="0" algn="l" defTabSz="323977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8pPr>
      <a:lvl9pPr marL="12959715" lvl="8" indent="0" algn="l" defTabSz="323977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eg"/><Relationship Id="rId3" Type="http://schemas.openxmlformats.org/officeDocument/2006/relationships/hyperlink" Target="https://www.diabetesatlas.org/" TargetMode="External"/><Relationship Id="rId7" Type="http://schemas.openxmlformats.org/officeDocument/2006/relationships/image" Target="../media/image4.png"/><Relationship Id="rId2" Type="http://schemas.openxmlformats.org/officeDocument/2006/relationships/hyperlink" Target="https://doi.org/10.1001/jama.2023.10578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jpeg"/><Relationship Id="rId5" Type="http://schemas.openxmlformats.org/officeDocument/2006/relationships/image" Target="../media/image2.png"/><Relationship Id="rId10" Type="http://schemas.openxmlformats.org/officeDocument/2006/relationships/image" Target="../media/image7.png"/><Relationship Id="rId4" Type="http://schemas.openxmlformats.org/officeDocument/2006/relationships/image" Target="../media/image1.png"/><Relationship Id="rId9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3526389" y="5038207"/>
            <a:ext cx="25280400" cy="5211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0" b="1" i="0" u="none" strike="noStrike" cap="none" dirty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Aplicativo móvel para detecção e classificação </a:t>
            </a:r>
          </a:p>
          <a:p>
            <a:pPr marL="0" marR="0" lvl="0" indent="0" algn="ctr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0" b="1" i="0" u="none" strike="noStrike" cap="none" dirty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de Úlceras do Pé Diabético</a:t>
            </a:r>
            <a:r>
              <a:rPr lang="pt-BR" sz="6000" b="0" i="0" u="none" strike="noStrike" cap="none" dirty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 </a:t>
            </a:r>
            <a:endParaRPr lang="pt-BR" sz="4400" b="0" i="0" u="none" strike="noStrike" cap="none" dirty="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ctr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pt-BR" sz="5400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ctr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 b="0" i="0" u="none" strike="noStrike" cap="none" dirty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Edson da Silva Lima Junior, Rodrigo Melo de Sousa Veras (Orientador, </a:t>
            </a:r>
            <a:r>
              <a:rPr lang="pt-BR" sz="4400" b="0" i="0" u="none" strike="noStrike" cap="none" dirty="0" err="1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Depart</a:t>
            </a:r>
            <a:r>
              <a:rPr lang="pt-BR" sz="4400" b="0" i="0" u="none" strike="noStrike" cap="none" dirty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. </a:t>
            </a:r>
            <a:r>
              <a:rPr lang="pt-BR" sz="4400" dirty="0">
                <a:solidFill>
                  <a:schemeClr val="dk1"/>
                </a:solidFill>
              </a:rPr>
              <a:t>De Computação</a:t>
            </a:r>
            <a:r>
              <a:rPr lang="pt-BR" sz="4400" b="0" i="0" u="none" strike="noStrike" cap="none" dirty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, UFPI)</a:t>
            </a:r>
            <a:endParaRPr lang="pt-BR" sz="5400" b="0" i="0" u="none" strike="noStrike" cap="none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just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pt-BR" sz="4400" b="0" i="0" u="none" strike="noStrike" cap="none" dirty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Palavras-chave: Aplicativo Móvel; Inteligência Artificial; Diagnóstico Assistido; Visão Computacional.</a:t>
            </a:r>
            <a:endParaRPr sz="6000" b="1" i="0" u="none" strike="noStrike" cap="none" dirty="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1261293" y="12958580"/>
            <a:ext cx="4675094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 b="1" i="0" u="none" strike="noStrike" cap="none" dirty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1. INTRODUÇÃO </a:t>
            </a:r>
            <a:endParaRPr sz="3600" b="1" i="0" u="none" strike="noStrike" cap="none" dirty="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1261293" y="22817743"/>
            <a:ext cx="5212976" cy="764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 b="1" i="0" u="none" strike="noStrike" cap="none" dirty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2. METODOLOGIA</a:t>
            </a:r>
            <a:r>
              <a:rPr lang="pt-BR" sz="4400" b="0" i="0" u="none" strike="noStrike" cap="none" dirty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 </a:t>
            </a:r>
          </a:p>
        </p:txBody>
      </p:sp>
      <p:sp>
        <p:nvSpPr>
          <p:cNvPr id="87" name="Google Shape;87;p1"/>
          <p:cNvSpPr txBox="1"/>
          <p:nvPr/>
        </p:nvSpPr>
        <p:spPr>
          <a:xfrm>
            <a:off x="1261293" y="32421016"/>
            <a:ext cx="9031941" cy="764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 b="1" i="0" u="none" strike="noStrike" cap="none" dirty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3. RESULTADOS E DISCUSSÃO</a:t>
            </a:r>
            <a:r>
              <a:rPr lang="pt-BR" sz="4400" b="0" i="0" u="none" strike="noStrike" cap="none" dirty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 </a:t>
            </a:r>
          </a:p>
        </p:txBody>
      </p:sp>
      <p:sp>
        <p:nvSpPr>
          <p:cNvPr id="88" name="Google Shape;88;p1"/>
          <p:cNvSpPr txBox="1"/>
          <p:nvPr/>
        </p:nvSpPr>
        <p:spPr>
          <a:xfrm>
            <a:off x="16519796" y="24842544"/>
            <a:ext cx="4675094" cy="7694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 b="1" i="0" u="none" strike="noStrike" cap="none" dirty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4. CONCLUSÃO</a:t>
            </a:r>
            <a:r>
              <a:rPr lang="pt-BR" sz="4400" b="0" i="0" u="none" strike="noStrike" cap="none" dirty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 </a:t>
            </a:r>
          </a:p>
        </p:txBody>
      </p:sp>
      <p:sp>
        <p:nvSpPr>
          <p:cNvPr id="89" name="Google Shape;89;p1"/>
          <p:cNvSpPr txBox="1"/>
          <p:nvPr/>
        </p:nvSpPr>
        <p:spPr>
          <a:xfrm>
            <a:off x="16401735" y="31272433"/>
            <a:ext cx="5105401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 b="1" i="0" u="none" strike="noStrike" cap="none" dirty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5. REFERÊNCIAS</a:t>
            </a:r>
            <a:endParaRPr sz="4400" b="1" i="0" u="none" strike="noStrike" cap="none" dirty="0">
              <a:solidFill>
                <a:schemeClr val="dk1"/>
              </a:solidFill>
              <a:latin typeface="Century Gothic" panose="020B0502020202020204"/>
              <a:ea typeface="Century Gothic" panose="020B0502020202020204"/>
              <a:cs typeface="Century Gothic" panose="020B0502020202020204"/>
              <a:sym typeface="Century Gothic" panose="020B0502020202020204"/>
            </a:endParaRPr>
          </a:p>
        </p:txBody>
      </p:sp>
      <p:cxnSp>
        <p:nvCxnSpPr>
          <p:cNvPr id="91" name="Google Shape;91;p1"/>
          <p:cNvCxnSpPr/>
          <p:nvPr/>
        </p:nvCxnSpPr>
        <p:spPr>
          <a:xfrm>
            <a:off x="15590044" y="13944600"/>
            <a:ext cx="0" cy="2625090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2" name="Google Shape;92;p1"/>
          <p:cNvSpPr txBox="1"/>
          <p:nvPr/>
        </p:nvSpPr>
        <p:spPr>
          <a:xfrm>
            <a:off x="1261293" y="13753743"/>
            <a:ext cx="12720934" cy="91409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pt-BR" sz="2800" dirty="0"/>
              <a:t>Em 2021 havia 536,6 milhões de pessoas com diabetes no mundo (10,5% da população mundial adulta de 20-79 anos) </a:t>
            </a:r>
          </a:p>
          <a:p>
            <a:pPr marL="342900" lvl="2" indent="-342900" algn="just">
              <a:buFont typeface="Arial" panose="020B0604020202020204" pitchFamily="34" charset="0"/>
              <a:buChar char="•"/>
            </a:pPr>
            <a:r>
              <a:rPr lang="pt-BR" sz="2800" dirty="0"/>
              <a:t>O custo global em saúde relacionado à diabetes foi de US$ 966 bilhões em 2021.</a:t>
            </a:r>
          </a:p>
          <a:p>
            <a:pPr marL="342900" lvl="2" indent="-342900" algn="just">
              <a:buFont typeface="Arial" panose="020B0604020202020204" pitchFamily="34" charset="0"/>
              <a:buChar char="•"/>
            </a:pPr>
            <a:r>
              <a:rPr lang="pt-BR" sz="2800" dirty="0"/>
              <a:t>Úlcera do Pé diabético (DFU): Complicação grave que precede até 80% das amputações em diabéticos. Anualmente, aproximadamente 18,6 milhões de pessoas em todo o mundo desenvolvem úlceras nos pés.</a:t>
            </a:r>
          </a:p>
          <a:p>
            <a:pPr marL="342900" lvl="2" indent="-342900" algn="just">
              <a:buFont typeface="Arial" panose="020B0604020202020204" pitchFamily="34" charset="0"/>
              <a:buChar char="•"/>
            </a:pPr>
            <a:r>
              <a:rPr lang="pt-BR" sz="2800" dirty="0"/>
              <a:t>Mortalidade em 5 anos: 30% (Podendo ultrapassar 70% após a amputação</a:t>
            </a:r>
          </a:p>
          <a:p>
            <a:pPr marL="342900" lvl="2" indent="-342900" algn="just">
              <a:buFont typeface="Arial" panose="020B0604020202020204" pitchFamily="34" charset="0"/>
              <a:buChar char="•"/>
            </a:pPr>
            <a:r>
              <a:rPr lang="pt-BR" sz="2800" dirty="0"/>
              <a:t>Alta recorrência: 42% em 1 ano e 65% em 5 anoso que reforça o caráter crônico</a:t>
            </a:r>
          </a:p>
          <a:p>
            <a:pPr marL="342900" lvl="2" indent="-342900" algn="just">
              <a:buFont typeface="Arial" panose="020B0604020202020204" pitchFamily="34" charset="0"/>
              <a:buChar char="•"/>
            </a:pPr>
            <a:r>
              <a:rPr lang="pt-BR" sz="2800" dirty="0"/>
              <a:t>Diagnóstico clínico é subjetivo e limitado pela falta de especialistas.</a:t>
            </a:r>
          </a:p>
          <a:p>
            <a:pPr lvl="2" algn="just"/>
            <a:r>
              <a:rPr lang="pt-BR" sz="2800" dirty="0"/>
              <a:t>	O uso de smartphones para monitoramento da saúde é uma alternativa acessível que viabiliza o acompanhamento remoto das lesões, diminuindo a necessidade de visitas hospitalares e ampliando o alcance do cuidado especializado.</a:t>
            </a:r>
          </a:p>
          <a:p>
            <a:pPr lvl="2" algn="just"/>
            <a:r>
              <a:rPr lang="pt-BR" sz="2800" dirty="0"/>
              <a:t> 	Estudos recentes mostram que redes neurais convolucionais (</a:t>
            </a:r>
            <a:r>
              <a:rPr lang="pt-BR" sz="2800" dirty="0" err="1"/>
              <a:t>CNNs</a:t>
            </a:r>
            <a:r>
              <a:rPr lang="pt-BR" sz="2800" dirty="0"/>
              <a:t>) permitem detecção automática de áreas lesionadas e classificação entre úlcera e pele saudável, ampliando a precisão diagnóstica.</a:t>
            </a:r>
          </a:p>
          <a:p>
            <a:pPr lvl="2" algn="just"/>
            <a:r>
              <a:rPr lang="pt-BR" sz="2800" dirty="0"/>
              <a:t>	</a:t>
            </a:r>
            <a:r>
              <a:rPr lang="pt-BR" sz="2800" b="1" dirty="0"/>
              <a:t>Objetivo</a:t>
            </a:r>
            <a:r>
              <a:rPr lang="pt-BR" sz="2800" dirty="0"/>
              <a:t>: Desenvolver um aplicativo móvel com Inteligência Artificial para detecção e classificação de </a:t>
            </a:r>
            <a:r>
              <a:rPr lang="pt-BR" sz="2800" dirty="0" err="1"/>
              <a:t>DFUs</a:t>
            </a:r>
            <a:r>
              <a:rPr lang="pt-BR" sz="2800" dirty="0"/>
              <a:t>, tornando o diagnóstico mais ágil, preciso e acessível.	</a:t>
            </a:r>
            <a:endParaRPr sz="2800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16519796" y="25526933"/>
            <a:ext cx="14368182" cy="56938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just"/>
            <a:r>
              <a:rPr lang="pt-BR" sz="2800" dirty="0"/>
              <a:t>	O projeto alcançou seu objetivo principal ao entregar um MVP eficaz que integra uma aplicação móvel a modelos de IA para análise remota de </a:t>
            </a:r>
            <a:r>
              <a:rPr lang="pt-BR" sz="2800" dirty="0" err="1"/>
              <a:t>DFUs</a:t>
            </a:r>
            <a:r>
              <a:rPr lang="pt-BR" sz="2800" dirty="0"/>
              <a:t>. Os modelos de classificação e detecção apresentaram métricas promissoras, demonstrando a viabilidade da solução.</a:t>
            </a:r>
          </a:p>
          <a:p>
            <a:pPr algn="just"/>
            <a:r>
              <a:rPr lang="pt-BR" sz="2800" dirty="0"/>
              <a:t>	Como trabalhos futuros, sugere-se a realização de testes em ambiente clínico, a integração com tecnologias de nuvem para maior escalabilidade e a criação de um módulo do aplicativo voltado para os pacientes, permitindo o acesso a seus próprios diagnósticos. Adicionalmente, o aplicativo pode alimentar continuamente seu próprio banco de dados com imagens e diagnósticos médicos, abrindo espaço para um ciclo de aprendizado constante que pode ser usado para futuros treinamentos.</a:t>
            </a:r>
          </a:p>
          <a:p>
            <a:pPr algn="just"/>
            <a:r>
              <a:rPr lang="pt-BR" sz="2800" dirty="0"/>
              <a:t>	Este trabalho reforça o potencial da inteligência artificial na saúde, oferecendo uma ferramenta com relevância social e científica para otimizar o tratamento de pacientes diabéticos e reduzir o risco de complicações graves.</a:t>
            </a:r>
          </a:p>
        </p:txBody>
      </p:sp>
      <p:sp>
        <p:nvSpPr>
          <p:cNvPr id="96" name="Google Shape;96;p1"/>
          <p:cNvSpPr txBox="1"/>
          <p:nvPr/>
        </p:nvSpPr>
        <p:spPr>
          <a:xfrm>
            <a:off x="16401735" y="32118507"/>
            <a:ext cx="14368182" cy="5940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just"/>
            <a:r>
              <a:rPr lang="en-US" sz="2000" dirty="0"/>
              <a:t>ARMSTRONG, D. G.; TAN, T. W.; BOULTON, A. J. M.; BUS, S. A. Diabetic foot ulcers: a review. </a:t>
            </a:r>
            <a:r>
              <a:rPr lang="pt-BR" sz="2000" b="1" dirty="0"/>
              <a:t>JAMA</a:t>
            </a:r>
            <a:r>
              <a:rPr lang="pt-BR" sz="2000" dirty="0"/>
              <a:t>, v. 330, n. 1, p. 62-75, 3 jul. 2023. DOI: </a:t>
            </a:r>
            <a:r>
              <a:rPr lang="pt-BR" sz="2000" u="sng" dirty="0">
                <a:hlinkClick r:id="rId2"/>
              </a:rPr>
              <a:t>https://doi.org/10.1001/jama.2023.10578</a:t>
            </a:r>
            <a:r>
              <a:rPr lang="pt-BR" sz="2000" dirty="0"/>
              <a:t>.</a:t>
            </a:r>
          </a:p>
          <a:p>
            <a:pPr algn="just"/>
            <a:endParaRPr lang="pt-BR" sz="2000" dirty="0"/>
          </a:p>
          <a:p>
            <a:pPr algn="just"/>
            <a:r>
              <a:rPr lang="en-US" sz="2000" dirty="0"/>
              <a:t>SUN, H.; SAEEDI, P.; KARURANGA, S.; PINKEPANK, M.; OGURTSOVA, K.; DUNCAN, B. B.; STEIN, C.; BASIT, A.; CHAN, J. C. N.; MBANYA, J. C.; PAVKOV, M. E.; RAMACHANDARAN, A.; WILD, S. H.; JAMES, S.; HERMAN, W. H.; ZHANG, P.; BOMMER, C.; KUO, S.; BOYKO, E. J.; MAGLIANO, D. J. IDF Diabetes Atlas: Global, regional and country-level diabetes prevalence estimates for 2021 and projections for 2045</a:t>
            </a:r>
            <a:r>
              <a:rPr lang="en-US" sz="2000" b="1" dirty="0"/>
              <a:t>. Diabetes Research and Clinical Practice</a:t>
            </a:r>
            <a:r>
              <a:rPr lang="en-US" sz="2000" dirty="0"/>
              <a:t>, v. 183, p. 109119, </a:t>
            </a:r>
            <a:r>
              <a:rPr lang="en-US" sz="2000" dirty="0" err="1"/>
              <a:t>jan.</a:t>
            </a:r>
            <a:r>
              <a:rPr lang="en-US" sz="2000" dirty="0"/>
              <a:t> 2022. DOI: https://doi.org/10.1016/j.diabres.2021.109119. Erratum </a:t>
            </a:r>
            <a:r>
              <a:rPr lang="en-US" sz="2000" dirty="0" err="1"/>
              <a:t>em</a:t>
            </a:r>
            <a:r>
              <a:rPr lang="en-US" sz="2000" dirty="0"/>
              <a:t>: Diabetes Research and Clinical Practice, v. 204, p. 110945, out. 2023</a:t>
            </a:r>
          </a:p>
          <a:p>
            <a:pPr algn="just"/>
            <a:endParaRPr lang="pt-BR" sz="2000" dirty="0"/>
          </a:p>
          <a:p>
            <a:pPr algn="just"/>
            <a:r>
              <a:rPr lang="en-US" sz="2000" dirty="0"/>
              <a:t>GOYAL, M. et al. </a:t>
            </a:r>
            <a:r>
              <a:rPr lang="en-US" sz="2000" dirty="0" err="1"/>
              <a:t>DFUNet</a:t>
            </a:r>
            <a:r>
              <a:rPr lang="en-US" sz="2000" dirty="0"/>
              <a:t>: Convolutional Neural Networks for Diabetic Foot Ulcer Classification. </a:t>
            </a:r>
            <a:r>
              <a:rPr lang="en-US" sz="2000" b="1" dirty="0"/>
              <a:t>IEEE Transactions on Emerging Topics in Computational Intelligence</a:t>
            </a:r>
            <a:r>
              <a:rPr lang="en-US" sz="2000" dirty="0"/>
              <a:t>, v. 4, n. 5, p. 728-739, 2018. DOI: 10.1109/TETCI.2018.2866254.</a:t>
            </a:r>
          </a:p>
          <a:p>
            <a:pPr algn="just"/>
            <a:endParaRPr lang="pt-BR" sz="2000" dirty="0"/>
          </a:p>
          <a:p>
            <a:pPr algn="just"/>
            <a:r>
              <a:rPr lang="en-US" sz="2000" dirty="0"/>
              <a:t>GOYAL, Manu et al. Recognition of </a:t>
            </a:r>
            <a:r>
              <a:rPr lang="en-US" sz="2000" dirty="0" err="1"/>
              <a:t>ischaemia</a:t>
            </a:r>
            <a:r>
              <a:rPr lang="en-US" sz="2000" dirty="0"/>
              <a:t> and infection in diabetic foot ulcers: Dataset and techniques. </a:t>
            </a:r>
            <a:r>
              <a:rPr lang="en-US" sz="2000" b="1" dirty="0"/>
              <a:t>Computers in Biology and Medicine</a:t>
            </a:r>
            <a:r>
              <a:rPr lang="en-US" sz="2000" dirty="0"/>
              <a:t>, v. 117, p. 103616, 2020.</a:t>
            </a:r>
          </a:p>
          <a:p>
            <a:pPr algn="just"/>
            <a:endParaRPr lang="pt-BR" sz="2000" b="1" dirty="0"/>
          </a:p>
          <a:p>
            <a:pPr algn="just"/>
            <a:r>
              <a:rPr lang="pt-BR" sz="2000" dirty="0"/>
              <a:t>INTERNATIONAL DIABETES FEDERATION (IDF). </a:t>
            </a:r>
            <a:r>
              <a:rPr lang="pt-BR" sz="2000" b="1" dirty="0"/>
              <a:t>IDF Diabetes Atlas.</a:t>
            </a:r>
            <a:r>
              <a:rPr lang="pt-BR" sz="2000" dirty="0"/>
              <a:t> 10. ed. </a:t>
            </a:r>
            <a:r>
              <a:rPr lang="pt-BR" sz="2000" dirty="0" err="1"/>
              <a:t>Brussels</a:t>
            </a:r>
            <a:r>
              <a:rPr lang="pt-BR" sz="2000" dirty="0"/>
              <a:t>: </a:t>
            </a:r>
            <a:r>
              <a:rPr lang="pt-BR" sz="2000" dirty="0" err="1"/>
              <a:t>International</a:t>
            </a:r>
            <a:r>
              <a:rPr lang="pt-BR" sz="2000" dirty="0"/>
              <a:t> Diabetes Federation, 2021. ISBN-13: 978-2-930229-98-0. Disponível em: </a:t>
            </a:r>
            <a:r>
              <a:rPr lang="pt-BR" sz="2000" dirty="0">
                <a:hlinkClick r:id="rId3"/>
              </a:rPr>
              <a:t>https://www.diabetesatlas.org</a:t>
            </a:r>
            <a:r>
              <a:rPr lang="pt-BR" sz="2000" dirty="0"/>
              <a:t>. Acesso em: 24 ago. 2025.</a:t>
            </a:r>
          </a:p>
          <a:p>
            <a:pPr algn="just"/>
            <a:endParaRPr lang="pt-BR" sz="2000" dirty="0"/>
          </a:p>
        </p:txBody>
      </p:sp>
      <p:pic>
        <p:nvPicPr>
          <p:cNvPr id="9" name="WordPictureWatermark9242892" descr="PROPESQI"/>
          <p:cNvPicPr>
            <a:picLocks noChangeAspect="1"/>
          </p:cNvPicPr>
          <p:nvPr/>
        </p:nvPicPr>
        <p:blipFill>
          <a:blip r:embed="rId4"/>
          <a:srcRect l="11551" t="78701" r="6084" b="2708"/>
          <a:stretch>
            <a:fillRect/>
          </a:stretch>
        </p:blipFill>
        <p:spPr>
          <a:xfrm>
            <a:off x="2" y="34414680"/>
            <a:ext cx="32399286" cy="878595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33AA12DB-CCF2-F3B0-BBEC-35FF65B40D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32399288" cy="4924497"/>
          </a:xfrm>
          <a:prstGeom prst="rect">
            <a:avLst/>
          </a:prstGeom>
        </p:spPr>
      </p:pic>
      <p:sp>
        <p:nvSpPr>
          <p:cNvPr id="8" name="Google Shape;93;p1">
            <a:extLst>
              <a:ext uri="{FF2B5EF4-FFF2-40B4-BE49-F238E27FC236}">
                <a16:creationId xmlns:a16="http://schemas.microsoft.com/office/drawing/2014/main" id="{963432F0-9E14-F693-4437-607CEBD95496}"/>
              </a:ext>
            </a:extLst>
          </p:cNvPr>
          <p:cNvSpPr txBox="1"/>
          <p:nvPr/>
        </p:nvSpPr>
        <p:spPr>
          <a:xfrm>
            <a:off x="1261293" y="23629625"/>
            <a:ext cx="13148984" cy="8710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just"/>
            <a:r>
              <a:rPr lang="pt-BR" sz="2800" dirty="0"/>
              <a:t>A solução foi projetada com uma arquitetura modular em três camadas, seguindo o modelo de desenvolvimento </a:t>
            </a:r>
            <a:r>
              <a:rPr lang="pt-BR" sz="2800" dirty="0" err="1"/>
              <a:t>Waterfall</a:t>
            </a:r>
            <a:r>
              <a:rPr lang="pt-BR" sz="2800" dirty="0"/>
              <a:t> para garantir clareza e organização na entrega do Mínimo Produto A solução possui arquitetura modular em 3 camadas (</a:t>
            </a:r>
            <a:r>
              <a:rPr lang="pt-BR" sz="2800" dirty="0" err="1"/>
              <a:t>Frontend</a:t>
            </a:r>
            <a:r>
              <a:rPr lang="pt-BR" sz="2800" dirty="0"/>
              <a:t>, </a:t>
            </a:r>
            <a:r>
              <a:rPr lang="pt-BR" sz="2800" dirty="0" err="1"/>
              <a:t>Backend</a:t>
            </a:r>
            <a:r>
              <a:rPr lang="pt-BR" sz="2800" dirty="0"/>
              <a:t> e IA) e foi desenvolvida com o modelo </a:t>
            </a:r>
            <a:r>
              <a:rPr lang="pt-BR" sz="2800" dirty="0" err="1"/>
              <a:t>Waterfall</a:t>
            </a:r>
            <a:r>
              <a:rPr lang="pt-BR" sz="2800" dirty="0"/>
              <a:t> para a entrega organizada do MVP.</a:t>
            </a:r>
          </a:p>
          <a:p>
            <a:pPr algn="just"/>
            <a:r>
              <a:rPr lang="pt-BR" sz="2800" b="1" dirty="0"/>
              <a:t>Arquitetura e Tecnologias: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sz="2800" dirty="0" err="1"/>
              <a:t>Frontend</a:t>
            </a:r>
            <a:r>
              <a:rPr lang="pt-BR" sz="2800" dirty="0"/>
              <a:t>: App móvel em </a:t>
            </a:r>
            <a:r>
              <a:rPr lang="pt-BR" sz="2800" dirty="0" err="1"/>
              <a:t>React</a:t>
            </a:r>
            <a:r>
              <a:rPr lang="pt-BR" sz="2800" dirty="0"/>
              <a:t> </a:t>
            </a:r>
            <a:r>
              <a:rPr lang="pt-BR" sz="2800" dirty="0" err="1"/>
              <a:t>Native</a:t>
            </a:r>
            <a:r>
              <a:rPr lang="pt-BR" sz="2800" dirty="0"/>
              <a:t>/Expo com autenticação via </a:t>
            </a:r>
            <a:r>
              <a:rPr lang="pt-BR" sz="2800" dirty="0" err="1"/>
              <a:t>Firebase</a:t>
            </a:r>
            <a:r>
              <a:rPr lang="pt-BR" sz="2800" dirty="0"/>
              <a:t>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sz="2800" dirty="0" err="1"/>
              <a:t>Backend</a:t>
            </a:r>
            <a:r>
              <a:rPr lang="pt-BR" sz="2800" dirty="0"/>
              <a:t>: API em Node.js/Express com </a:t>
            </a:r>
            <a:r>
              <a:rPr lang="pt-BR" sz="2800" dirty="0" err="1"/>
              <a:t>MongoDB</a:t>
            </a:r>
            <a:r>
              <a:rPr lang="pt-BR" sz="2800" dirty="0"/>
              <a:t> para dados e </a:t>
            </a:r>
            <a:r>
              <a:rPr lang="pt-BR" sz="2800" dirty="0" err="1"/>
              <a:t>Firebase</a:t>
            </a:r>
            <a:r>
              <a:rPr lang="pt-BR" sz="2800" dirty="0"/>
              <a:t> </a:t>
            </a:r>
            <a:r>
              <a:rPr lang="pt-BR" sz="2800" dirty="0" err="1"/>
              <a:t>Storage</a:t>
            </a:r>
            <a:r>
              <a:rPr lang="pt-BR" sz="2800" dirty="0"/>
              <a:t> para imagens. processamento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sz="2800" dirty="0"/>
              <a:t>IA: Microsserviço em Python/</a:t>
            </a:r>
            <a:r>
              <a:rPr lang="pt-BR" sz="2800" dirty="0" err="1"/>
              <a:t>FastAPI</a:t>
            </a:r>
            <a:r>
              <a:rPr lang="pt-BR" sz="2800" dirty="0"/>
              <a:t> para e inferência dos modelos.</a:t>
            </a:r>
          </a:p>
          <a:p>
            <a:pPr algn="just"/>
            <a:r>
              <a:rPr lang="pt-BR" sz="2800" b="1" dirty="0"/>
              <a:t>Treinamento e Avaliação: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sz="2800" dirty="0" err="1"/>
              <a:t>Dataset</a:t>
            </a:r>
            <a:r>
              <a:rPr lang="pt-BR" sz="2800" dirty="0"/>
              <a:t>: Foi utilizado o banco de dados do </a:t>
            </a:r>
            <a:r>
              <a:rPr lang="pt-BR" sz="2800" dirty="0" err="1"/>
              <a:t>Diabetic</a:t>
            </a:r>
            <a:r>
              <a:rPr lang="pt-BR" sz="2800" dirty="0"/>
              <a:t> </a:t>
            </a:r>
            <a:r>
              <a:rPr lang="pt-BR" sz="2800" dirty="0" err="1"/>
              <a:t>Foot</a:t>
            </a:r>
            <a:r>
              <a:rPr lang="pt-BR" sz="2800" dirty="0"/>
              <a:t> </a:t>
            </a:r>
            <a:r>
              <a:rPr lang="pt-BR" sz="2800" dirty="0" err="1"/>
              <a:t>Ulcer</a:t>
            </a:r>
            <a:r>
              <a:rPr lang="pt-BR" sz="2800" dirty="0"/>
              <a:t> </a:t>
            </a:r>
            <a:r>
              <a:rPr lang="pt-BR" sz="2800" dirty="0" err="1"/>
              <a:t>Challenge</a:t>
            </a:r>
            <a:r>
              <a:rPr lang="pt-BR" sz="2800" dirty="0"/>
              <a:t> (DFUC), um evento satélite da MICCAI, a principal conferência internacional de computação e imagem médica, com dados clínicos de hospitais do Reino Unido.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sz="2800" dirty="0"/>
              <a:t>Modelos: A detecção de úlceras foi feita com YOLOv5/v8. A classificação das lesões foi realizada com </a:t>
            </a:r>
            <a:r>
              <a:rPr lang="pt-BR" sz="2800" dirty="0" err="1"/>
              <a:t>CNNs</a:t>
            </a:r>
            <a:r>
              <a:rPr lang="pt-BR" sz="2800" dirty="0"/>
              <a:t> (ResNet50, etc.), treinadas via aprendizado por transferência.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sz="2800" dirty="0"/>
              <a:t>Métricas: O desempenho foi avaliado por </a:t>
            </a:r>
            <a:r>
              <a:rPr lang="pt-BR" sz="2800" dirty="0" err="1"/>
              <a:t>mAP</a:t>
            </a:r>
            <a:r>
              <a:rPr lang="pt-BR" sz="2800" dirty="0"/>
              <a:t> para detecção e Acurácia, Precisão e F1-Score para classificação.</a:t>
            </a:r>
          </a:p>
        </p:txBody>
      </p:sp>
      <p:pic>
        <p:nvPicPr>
          <p:cNvPr id="21" name="Imagem 20">
            <a:extLst>
              <a:ext uri="{FF2B5EF4-FFF2-40B4-BE49-F238E27FC236}">
                <a16:creationId xmlns:a16="http://schemas.microsoft.com/office/drawing/2014/main" id="{D8BB7D8D-0E2D-BA09-2735-B8E9FB6BB7AC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1293" y="33654425"/>
            <a:ext cx="3229493" cy="6991685"/>
          </a:xfrm>
          <a:prstGeom prst="rect">
            <a:avLst/>
          </a:prstGeom>
          <a:noFill/>
          <a:ln>
            <a:noFill/>
          </a:ln>
          <a:effectLst>
            <a:outerShdw blurRad="63500" sx="99000" sy="99000" algn="ctr" rotWithShape="0">
              <a:srgbClr val="000000"/>
            </a:outerShdw>
          </a:effectLst>
        </p:spPr>
      </p:pic>
      <p:pic>
        <p:nvPicPr>
          <p:cNvPr id="22" name="Imagem 21">
            <a:extLst>
              <a:ext uri="{FF2B5EF4-FFF2-40B4-BE49-F238E27FC236}">
                <a16:creationId xmlns:a16="http://schemas.microsoft.com/office/drawing/2014/main" id="{1D1F944B-A1DF-8FBF-FAC9-419FD7309FA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6845" y="33679722"/>
            <a:ext cx="3229490" cy="6990021"/>
          </a:xfrm>
          <a:prstGeom prst="rect">
            <a:avLst/>
          </a:prstGeom>
          <a:noFill/>
          <a:ln>
            <a:noFill/>
          </a:ln>
          <a:effectLst>
            <a:outerShdw blurRad="63500" sx="99000" sy="99000" algn="ctr" rotWithShape="0">
              <a:srgbClr val="000000"/>
            </a:outerShdw>
          </a:effectLst>
        </p:spPr>
      </p:pic>
      <p:pic>
        <p:nvPicPr>
          <p:cNvPr id="25" name="Imagem 24">
            <a:extLst>
              <a:ext uri="{FF2B5EF4-FFF2-40B4-BE49-F238E27FC236}">
                <a16:creationId xmlns:a16="http://schemas.microsoft.com/office/drawing/2014/main" id="{6ECD176A-6F09-3800-45CA-09513BBEB1DC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87950" y="33679721"/>
            <a:ext cx="3260843" cy="7060449"/>
          </a:xfrm>
          <a:prstGeom prst="rect">
            <a:avLst/>
          </a:prstGeom>
          <a:noFill/>
          <a:ln>
            <a:noFill/>
          </a:ln>
          <a:effectLst>
            <a:outerShdw blurRad="63500" sx="99000" sy="99000" algn="ctr" rotWithShape="0">
              <a:srgbClr val="000000"/>
            </a:outerShdw>
          </a:effectLst>
        </p:spPr>
      </p:pic>
      <p:sp>
        <p:nvSpPr>
          <p:cNvPr id="29" name="Rectangle 10">
            <a:extLst>
              <a:ext uri="{FF2B5EF4-FFF2-40B4-BE49-F238E27FC236}">
                <a16:creationId xmlns:a16="http://schemas.microsoft.com/office/drawing/2014/main" id="{EE863C50-A9EF-F37D-08E3-C47E6BE3E5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401751" y="15078669"/>
            <a:ext cx="45628526" cy="12254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graphicFrame>
        <p:nvGraphicFramePr>
          <p:cNvPr id="30" name="Tabela 29">
            <a:extLst>
              <a:ext uri="{FF2B5EF4-FFF2-40B4-BE49-F238E27FC236}">
                <a16:creationId xmlns:a16="http://schemas.microsoft.com/office/drawing/2014/main" id="{4E0B40AF-BE76-AC3B-3DED-9A2E3988D3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8151669"/>
              </p:ext>
            </p:extLst>
          </p:nvPr>
        </p:nvGraphicFramePr>
        <p:xfrm>
          <a:off x="16009639" y="20249058"/>
          <a:ext cx="15787173" cy="112014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966949">
                  <a:extLst>
                    <a:ext uri="{9D8B030D-6E8A-4147-A177-3AD203B41FA5}">
                      <a16:colId xmlns:a16="http://schemas.microsoft.com/office/drawing/2014/main" val="3137849873"/>
                    </a:ext>
                  </a:extLst>
                </a:gridCol>
                <a:gridCol w="2684672">
                  <a:extLst>
                    <a:ext uri="{9D8B030D-6E8A-4147-A177-3AD203B41FA5}">
                      <a16:colId xmlns:a16="http://schemas.microsoft.com/office/drawing/2014/main" val="715121417"/>
                    </a:ext>
                  </a:extLst>
                </a:gridCol>
                <a:gridCol w="2682642">
                  <a:extLst>
                    <a:ext uri="{9D8B030D-6E8A-4147-A177-3AD203B41FA5}">
                      <a16:colId xmlns:a16="http://schemas.microsoft.com/office/drawing/2014/main" val="1126509259"/>
                    </a:ext>
                  </a:extLst>
                </a:gridCol>
                <a:gridCol w="2384119">
                  <a:extLst>
                    <a:ext uri="{9D8B030D-6E8A-4147-A177-3AD203B41FA5}">
                      <a16:colId xmlns:a16="http://schemas.microsoft.com/office/drawing/2014/main" val="194547389"/>
                    </a:ext>
                  </a:extLst>
                </a:gridCol>
                <a:gridCol w="2684672">
                  <a:extLst>
                    <a:ext uri="{9D8B030D-6E8A-4147-A177-3AD203B41FA5}">
                      <a16:colId xmlns:a16="http://schemas.microsoft.com/office/drawing/2014/main" val="1076372233"/>
                    </a:ext>
                  </a:extLst>
                </a:gridCol>
                <a:gridCol w="2384119">
                  <a:extLst>
                    <a:ext uri="{9D8B030D-6E8A-4147-A177-3AD203B41FA5}">
                      <a16:colId xmlns:a16="http://schemas.microsoft.com/office/drawing/2014/main" val="2135319809"/>
                    </a:ext>
                  </a:extLst>
                </a:gridCol>
              </a:tblGrid>
              <a:tr h="160655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pt-BR" sz="2200">
                          <a:effectLst/>
                        </a:rPr>
                        <a:t>Modelo</a:t>
                      </a:r>
                      <a:endParaRPr lang="pt-BR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DengXian" panose="02010600030101010101" pitchFamily="2" charset="-122"/>
                      </a:endParaRP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pt-BR" sz="2200" dirty="0">
                          <a:effectLst/>
                        </a:rPr>
                        <a:t>Precisão</a:t>
                      </a:r>
                      <a:endParaRPr lang="pt-BR" sz="2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DengXian" panose="02010600030101010101" pitchFamily="2" charset="-122"/>
                      </a:endParaRP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pt-BR" sz="2200">
                          <a:effectLst/>
                        </a:rPr>
                        <a:t>Revocação</a:t>
                      </a:r>
                      <a:endParaRPr lang="pt-BR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DengXian" panose="02010600030101010101" pitchFamily="2" charset="-122"/>
                      </a:endParaRP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pt-BR" sz="2200">
                          <a:effectLst/>
                        </a:rPr>
                        <a:t>mAP_50</a:t>
                      </a:r>
                      <a:endParaRPr lang="pt-BR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DengXian" panose="02010600030101010101" pitchFamily="2" charset="-122"/>
                      </a:endParaRP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pt-BR" sz="2200">
                          <a:effectLst/>
                        </a:rPr>
                        <a:t>mAP_50-95</a:t>
                      </a:r>
                      <a:endParaRPr lang="pt-BR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DengXian" panose="02010600030101010101" pitchFamily="2" charset="-122"/>
                      </a:endParaRP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pt-BR" sz="2200">
                          <a:effectLst/>
                        </a:rPr>
                        <a:t>F1-Score</a:t>
                      </a:r>
                      <a:endParaRPr lang="pt-BR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DengXian" panose="02010600030101010101" pitchFamily="2" charset="-122"/>
                      </a:endParaRPr>
                    </a:p>
                  </a:txBody>
                  <a:tcPr marL="28575" marR="28575" marT="19050" marB="19050" anchor="b"/>
                </a:tc>
                <a:extLst>
                  <a:ext uri="{0D108BD9-81ED-4DB2-BD59-A6C34878D82A}">
                    <a16:rowId xmlns:a16="http://schemas.microsoft.com/office/drawing/2014/main" val="3999605709"/>
                  </a:ext>
                </a:extLst>
              </a:tr>
              <a:tr h="160655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pt-BR" sz="2200">
                          <a:effectLst/>
                        </a:rPr>
                        <a:t>YOLOv5</a:t>
                      </a:r>
                      <a:endParaRPr lang="pt-BR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DengXian" panose="02010600030101010101" pitchFamily="2" charset="-122"/>
                      </a:endParaRP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pt-BR" sz="2200" dirty="0">
                          <a:effectLst/>
                        </a:rPr>
                        <a:t>0.852</a:t>
                      </a:r>
                      <a:endParaRPr lang="pt-BR" sz="2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DengXian" panose="02010600030101010101" pitchFamily="2" charset="-122"/>
                      </a:endParaRP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pt-BR" sz="2200">
                          <a:effectLst/>
                        </a:rPr>
                        <a:t>0.714</a:t>
                      </a:r>
                      <a:endParaRPr lang="pt-BR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DengXian" panose="02010600030101010101" pitchFamily="2" charset="-122"/>
                      </a:endParaRP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pt-BR" sz="2200">
                          <a:effectLst/>
                        </a:rPr>
                        <a:t>0.811</a:t>
                      </a:r>
                      <a:endParaRPr lang="pt-BR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DengXian" panose="02010600030101010101" pitchFamily="2" charset="-122"/>
                      </a:endParaRP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pt-BR" sz="2200">
                          <a:effectLst/>
                        </a:rPr>
                        <a:t>0.475</a:t>
                      </a:r>
                      <a:endParaRPr lang="pt-BR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DengXian" panose="02010600030101010101" pitchFamily="2" charset="-122"/>
                      </a:endParaRP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pt-BR" sz="2200" dirty="0">
                          <a:effectLst/>
                        </a:rPr>
                        <a:t>0.777</a:t>
                      </a:r>
                      <a:endParaRPr lang="pt-BR" sz="2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DengXian" panose="02010600030101010101" pitchFamily="2" charset="-122"/>
                      </a:endParaRPr>
                    </a:p>
                  </a:txBody>
                  <a:tcPr marL="28575" marR="28575" marT="19050" marB="19050" anchor="b"/>
                </a:tc>
                <a:extLst>
                  <a:ext uri="{0D108BD9-81ED-4DB2-BD59-A6C34878D82A}">
                    <a16:rowId xmlns:a16="http://schemas.microsoft.com/office/drawing/2014/main" val="1906137315"/>
                  </a:ext>
                </a:extLst>
              </a:tr>
              <a:tr h="160655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pt-BR" sz="2200" dirty="0">
                          <a:effectLst/>
                        </a:rPr>
                        <a:t>YOLOv8</a:t>
                      </a:r>
                      <a:endParaRPr lang="pt-BR" sz="2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DengXian" panose="02010600030101010101" pitchFamily="2" charset="-122"/>
                      </a:endParaRP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pt-BR" sz="2200">
                          <a:effectLst/>
                        </a:rPr>
                        <a:t>0.832</a:t>
                      </a:r>
                      <a:endParaRPr lang="pt-BR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DengXian" panose="02010600030101010101" pitchFamily="2" charset="-122"/>
                      </a:endParaRP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pt-BR" sz="2200" dirty="0">
                          <a:effectLst/>
                        </a:rPr>
                        <a:t>0.708</a:t>
                      </a:r>
                      <a:endParaRPr lang="pt-BR" sz="2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DengXian" panose="02010600030101010101" pitchFamily="2" charset="-122"/>
                      </a:endParaRP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pt-BR" sz="2200">
                          <a:effectLst/>
                        </a:rPr>
                        <a:t>0.796</a:t>
                      </a:r>
                      <a:endParaRPr lang="pt-BR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DengXian" panose="02010600030101010101" pitchFamily="2" charset="-122"/>
                      </a:endParaRP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pt-BR" sz="2200" dirty="0">
                          <a:effectLst/>
                        </a:rPr>
                        <a:t>0.471</a:t>
                      </a:r>
                      <a:endParaRPr lang="pt-BR" sz="2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DengXian" panose="02010600030101010101" pitchFamily="2" charset="-122"/>
                      </a:endParaRP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pt-BR" sz="2200" dirty="0">
                          <a:effectLst/>
                        </a:rPr>
                        <a:t>0.765</a:t>
                      </a:r>
                      <a:endParaRPr lang="pt-BR" sz="2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DengXian" panose="02010600030101010101" pitchFamily="2" charset="-122"/>
                      </a:endParaRPr>
                    </a:p>
                  </a:txBody>
                  <a:tcPr marL="28575" marR="28575" marT="19050" marB="19050" anchor="b"/>
                </a:tc>
                <a:extLst>
                  <a:ext uri="{0D108BD9-81ED-4DB2-BD59-A6C34878D82A}">
                    <a16:rowId xmlns:a16="http://schemas.microsoft.com/office/drawing/2014/main" val="592008621"/>
                  </a:ext>
                </a:extLst>
              </a:tr>
            </a:tbl>
          </a:graphicData>
        </a:graphic>
      </p:graphicFrame>
      <p:sp>
        <p:nvSpPr>
          <p:cNvPr id="31" name="Rectangle 11">
            <a:extLst>
              <a:ext uri="{FF2B5EF4-FFF2-40B4-BE49-F238E27FC236}">
                <a16:creationId xmlns:a16="http://schemas.microsoft.com/office/drawing/2014/main" id="{204B7A2F-2B7F-9F77-BF9E-F9282F6609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30288" y="24049038"/>
            <a:ext cx="323992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sp>
        <p:nvSpPr>
          <p:cNvPr id="64" name="Google Shape;95;p1">
            <a:extLst>
              <a:ext uri="{FF2B5EF4-FFF2-40B4-BE49-F238E27FC236}">
                <a16:creationId xmlns:a16="http://schemas.microsoft.com/office/drawing/2014/main" id="{E76C54C8-3435-39B1-1F50-FF83D5435A30}"/>
              </a:ext>
            </a:extLst>
          </p:cNvPr>
          <p:cNvSpPr txBox="1"/>
          <p:nvPr/>
        </p:nvSpPr>
        <p:spPr>
          <a:xfrm>
            <a:off x="16573034" y="13200618"/>
            <a:ext cx="14368182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pt-BR" sz="3200" b="1" dirty="0"/>
              <a:t>Modelos Classificação</a:t>
            </a:r>
          </a:p>
        </p:txBody>
      </p:sp>
      <p:sp>
        <p:nvSpPr>
          <p:cNvPr id="65" name="Google Shape;95;p1">
            <a:extLst>
              <a:ext uri="{FF2B5EF4-FFF2-40B4-BE49-F238E27FC236}">
                <a16:creationId xmlns:a16="http://schemas.microsoft.com/office/drawing/2014/main" id="{5545731E-164C-2B78-7395-B0DEFEAADD4C}"/>
              </a:ext>
            </a:extLst>
          </p:cNvPr>
          <p:cNvSpPr txBox="1"/>
          <p:nvPr/>
        </p:nvSpPr>
        <p:spPr>
          <a:xfrm>
            <a:off x="16573034" y="19713015"/>
            <a:ext cx="14368182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pt-BR" sz="3200" b="1" dirty="0"/>
              <a:t>Modelos Detecção</a:t>
            </a:r>
          </a:p>
        </p:txBody>
      </p:sp>
      <p:graphicFrame>
        <p:nvGraphicFramePr>
          <p:cNvPr id="68" name="Tabela 67">
            <a:extLst>
              <a:ext uri="{FF2B5EF4-FFF2-40B4-BE49-F238E27FC236}">
                <a16:creationId xmlns:a16="http://schemas.microsoft.com/office/drawing/2014/main" id="{D0936E17-CF23-D8F6-2961-C23549BC12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9556603"/>
              </p:ext>
            </p:extLst>
          </p:nvPr>
        </p:nvGraphicFramePr>
        <p:xfrm>
          <a:off x="15996585" y="13855285"/>
          <a:ext cx="15813282" cy="589713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56483">
                  <a:extLst>
                    <a:ext uri="{9D8B030D-6E8A-4147-A177-3AD203B41FA5}">
                      <a16:colId xmlns:a16="http://schemas.microsoft.com/office/drawing/2014/main" val="3121736968"/>
                    </a:ext>
                  </a:extLst>
                </a:gridCol>
                <a:gridCol w="2757076">
                  <a:extLst>
                    <a:ext uri="{9D8B030D-6E8A-4147-A177-3AD203B41FA5}">
                      <a16:colId xmlns:a16="http://schemas.microsoft.com/office/drawing/2014/main" val="1929451872"/>
                    </a:ext>
                  </a:extLst>
                </a:gridCol>
                <a:gridCol w="2815093">
                  <a:extLst>
                    <a:ext uri="{9D8B030D-6E8A-4147-A177-3AD203B41FA5}">
                      <a16:colId xmlns:a16="http://schemas.microsoft.com/office/drawing/2014/main" val="1312269970"/>
                    </a:ext>
                  </a:extLst>
                </a:gridCol>
                <a:gridCol w="2728210">
                  <a:extLst>
                    <a:ext uri="{9D8B030D-6E8A-4147-A177-3AD203B41FA5}">
                      <a16:colId xmlns:a16="http://schemas.microsoft.com/office/drawing/2014/main" val="3729492777"/>
                    </a:ext>
                  </a:extLst>
                </a:gridCol>
                <a:gridCol w="2728210">
                  <a:extLst>
                    <a:ext uri="{9D8B030D-6E8A-4147-A177-3AD203B41FA5}">
                      <a16:colId xmlns:a16="http://schemas.microsoft.com/office/drawing/2014/main" val="4100623810"/>
                    </a:ext>
                  </a:extLst>
                </a:gridCol>
                <a:gridCol w="2728210">
                  <a:extLst>
                    <a:ext uri="{9D8B030D-6E8A-4147-A177-3AD203B41FA5}">
                      <a16:colId xmlns:a16="http://schemas.microsoft.com/office/drawing/2014/main" val="4290134801"/>
                    </a:ext>
                  </a:extLst>
                </a:gridCol>
              </a:tblGrid>
              <a:tr h="69200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pt-BR" sz="2000" dirty="0">
                          <a:effectLst/>
                        </a:rPr>
                        <a:t>Modelo</a:t>
                      </a:r>
                      <a:endParaRPr lang="pt-BR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pt-BR" sz="2000" dirty="0">
                          <a:effectLst/>
                        </a:rPr>
                        <a:t>Acurácia</a:t>
                      </a:r>
                      <a:endParaRPr lang="pt-BR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pt-BR" sz="2000">
                          <a:effectLst/>
                        </a:rPr>
                        <a:t>Precisão (Ponderada)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pt-BR" sz="2000">
                          <a:effectLst/>
                        </a:rPr>
                        <a:t>Revocação (Ponderada)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pt-BR" sz="2000">
                          <a:effectLst/>
                        </a:rPr>
                        <a:t>F1-Score (Ponderado)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pt-BR" sz="2000" dirty="0">
                          <a:effectLst/>
                        </a:rPr>
                        <a:t>Coeficiente Kappa</a:t>
                      </a:r>
                      <a:endParaRPr lang="pt-BR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14300" marR="114300" marT="76200" marB="76200"/>
                </a:tc>
                <a:extLst>
                  <a:ext uri="{0D108BD9-81ED-4DB2-BD59-A6C34878D82A}">
                    <a16:rowId xmlns:a16="http://schemas.microsoft.com/office/drawing/2014/main" val="664205025"/>
                  </a:ext>
                </a:extLst>
              </a:tr>
              <a:tr h="53539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pt-BR" sz="2000">
                          <a:effectLst/>
                        </a:rPr>
                        <a:t>ResNet50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pt-BR" sz="2000">
                          <a:effectLst/>
                        </a:rPr>
                        <a:t>0.822463768115942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pt-BR" sz="2000">
                          <a:effectLst/>
                        </a:rPr>
                        <a:t>0.8280362517130004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pt-BR" sz="2000" dirty="0">
                          <a:effectLst/>
                        </a:rPr>
                        <a:t>0.822463768115942</a:t>
                      </a:r>
                      <a:endParaRPr lang="pt-BR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pt-BR" sz="2000" dirty="0">
                          <a:effectLst/>
                        </a:rPr>
                        <a:t>0.8239823487939546</a:t>
                      </a:r>
                      <a:endParaRPr lang="pt-BR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pt-BR" sz="2000">
                          <a:effectLst/>
                        </a:rPr>
                        <a:t>0.7103365556237774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14300" marR="114300" marT="76200" marB="76200"/>
                </a:tc>
                <a:extLst>
                  <a:ext uri="{0D108BD9-81ED-4DB2-BD59-A6C34878D82A}">
                    <a16:rowId xmlns:a16="http://schemas.microsoft.com/office/drawing/2014/main" val="3490894024"/>
                  </a:ext>
                </a:extLst>
              </a:tr>
              <a:tr h="69200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pt-BR" sz="2000">
                          <a:effectLst/>
                        </a:rPr>
                        <a:t>ResNet50V2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pt-BR" sz="2000">
                          <a:effectLst/>
                        </a:rPr>
                        <a:t>0.8128019323671497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pt-BR" sz="2000" dirty="0">
                          <a:effectLst/>
                        </a:rPr>
                        <a:t>0.8165663307520142</a:t>
                      </a:r>
                      <a:endParaRPr lang="pt-BR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pt-BR" sz="2000" dirty="0">
                          <a:effectLst/>
                        </a:rPr>
                        <a:t>0.8128019323671497</a:t>
                      </a:r>
                      <a:endParaRPr lang="pt-BR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pt-BR" sz="2000">
                          <a:effectLst/>
                        </a:rPr>
                        <a:t>0.8135742915888327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pt-BR" sz="2000">
                          <a:effectLst/>
                        </a:rPr>
                        <a:t>0.6926974336380658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14300" marR="114300" marT="76200" marB="76200"/>
                </a:tc>
                <a:extLst>
                  <a:ext uri="{0D108BD9-81ED-4DB2-BD59-A6C34878D82A}">
                    <a16:rowId xmlns:a16="http://schemas.microsoft.com/office/drawing/2014/main" val="1378952017"/>
                  </a:ext>
                </a:extLst>
              </a:tr>
              <a:tr h="69200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pt-BR" sz="2000" dirty="0">
                          <a:effectLst/>
                        </a:rPr>
                        <a:t>ResNet101V2</a:t>
                      </a:r>
                      <a:endParaRPr lang="pt-BR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pt-BR" sz="2000">
                          <a:effectLst/>
                        </a:rPr>
                        <a:t>0.8019323671497585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pt-BR" sz="2000">
                          <a:effectLst/>
                        </a:rPr>
                        <a:t>0.8029137388376519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pt-BR" sz="2000">
                          <a:effectLst/>
                        </a:rPr>
                        <a:t>0.8019323671497585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pt-BR" sz="2000">
                          <a:effectLst/>
                        </a:rPr>
                        <a:t>0.8020933656421834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pt-BR" sz="2000">
                          <a:effectLst/>
                        </a:rPr>
                        <a:t>0.6774000427624546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14300" marR="114300" marT="76200" marB="76200"/>
                </a:tc>
                <a:extLst>
                  <a:ext uri="{0D108BD9-81ED-4DB2-BD59-A6C34878D82A}">
                    <a16:rowId xmlns:a16="http://schemas.microsoft.com/office/drawing/2014/main" val="3134033293"/>
                  </a:ext>
                </a:extLst>
              </a:tr>
              <a:tr h="69200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pt-BR" sz="2000">
                          <a:effectLst/>
                        </a:rPr>
                        <a:t>DenseNet201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pt-BR" sz="2000">
                          <a:effectLst/>
                        </a:rPr>
                        <a:t>0.8007246376811594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pt-BR" sz="2000">
                          <a:effectLst/>
                        </a:rPr>
                        <a:t>0.801652527124409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pt-BR" sz="2000">
                          <a:effectLst/>
                        </a:rPr>
                        <a:t>0.8007246376811594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pt-BR" sz="2000">
                          <a:effectLst/>
                        </a:rPr>
                        <a:t>0.8010424652305068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pt-BR" sz="2000" dirty="0">
                          <a:effectLst/>
                        </a:rPr>
                        <a:t>0.672535869570428</a:t>
                      </a:r>
                      <a:endParaRPr lang="pt-BR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14300" marR="114300" marT="76200" marB="76200"/>
                </a:tc>
                <a:extLst>
                  <a:ext uri="{0D108BD9-81ED-4DB2-BD59-A6C34878D82A}">
                    <a16:rowId xmlns:a16="http://schemas.microsoft.com/office/drawing/2014/main" val="2938791604"/>
                  </a:ext>
                </a:extLst>
              </a:tr>
              <a:tr h="69200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pt-BR" sz="2000">
                          <a:effectLst/>
                        </a:rPr>
                        <a:t>ResNet152V2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pt-BR" sz="2000">
                          <a:effectLst/>
                        </a:rPr>
                        <a:t>0.7934782608695652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pt-BR" sz="2000">
                          <a:effectLst/>
                        </a:rPr>
                        <a:t>0.7940442000689302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pt-BR" sz="2000">
                          <a:effectLst/>
                        </a:rPr>
                        <a:t>0.7934782608695652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pt-BR" sz="2000" dirty="0">
                          <a:effectLst/>
                        </a:rPr>
                        <a:t>0.7932583137201719</a:t>
                      </a:r>
                      <a:endParaRPr lang="pt-BR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pt-BR" sz="2000">
                          <a:effectLst/>
                        </a:rPr>
                        <a:t>0.6636752766125239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14300" marR="114300" marT="76200" marB="76200"/>
                </a:tc>
                <a:extLst>
                  <a:ext uri="{0D108BD9-81ED-4DB2-BD59-A6C34878D82A}">
                    <a16:rowId xmlns:a16="http://schemas.microsoft.com/office/drawing/2014/main" val="2723857468"/>
                  </a:ext>
                </a:extLst>
              </a:tr>
              <a:tr h="69200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pt-BR" sz="2000">
                          <a:effectLst/>
                        </a:rPr>
                        <a:t>EfficientNetB3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pt-BR" sz="2000">
                          <a:effectLst/>
                        </a:rPr>
                        <a:t>0.785024154589372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pt-BR" sz="2000">
                          <a:effectLst/>
                        </a:rPr>
                        <a:t>0.7865720561468084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pt-BR" sz="2000">
                          <a:effectLst/>
                        </a:rPr>
                        <a:t>0.785024154589372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pt-BR" sz="2000">
                          <a:effectLst/>
                        </a:rPr>
                        <a:t>0.7842809014266414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pt-BR" sz="2000">
                          <a:effectLst/>
                        </a:rPr>
                        <a:t>0.6526780159493242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14300" marR="114300" marT="76200" marB="76200"/>
                </a:tc>
                <a:extLst>
                  <a:ext uri="{0D108BD9-81ED-4DB2-BD59-A6C34878D82A}">
                    <a16:rowId xmlns:a16="http://schemas.microsoft.com/office/drawing/2014/main" val="3338463613"/>
                  </a:ext>
                </a:extLst>
              </a:tr>
              <a:tr h="53539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pt-BR" sz="2000">
                          <a:effectLst/>
                        </a:rPr>
                        <a:t>MobileNetV2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pt-BR" sz="2000">
                          <a:effectLst/>
                        </a:rPr>
                        <a:t>0.7814009661835749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pt-BR" sz="2000">
                          <a:effectLst/>
                        </a:rPr>
                        <a:t>0.7826805080365801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pt-BR" sz="2000">
                          <a:effectLst/>
                        </a:rPr>
                        <a:t>0.7814009661835749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pt-BR" sz="2000">
                          <a:effectLst/>
                        </a:rPr>
                        <a:t>0.7818110839371698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pt-BR" sz="2000">
                          <a:effectLst/>
                        </a:rPr>
                        <a:t>0.6403973509933776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14300" marR="114300" marT="76200" marB="76200"/>
                </a:tc>
                <a:extLst>
                  <a:ext uri="{0D108BD9-81ED-4DB2-BD59-A6C34878D82A}">
                    <a16:rowId xmlns:a16="http://schemas.microsoft.com/office/drawing/2014/main" val="1426736406"/>
                  </a:ext>
                </a:extLst>
              </a:tr>
              <a:tr h="53539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pt-BR" sz="2000">
                          <a:effectLst/>
                        </a:rPr>
                        <a:t>Xception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pt-BR" sz="2000" dirty="0">
                          <a:effectLst/>
                        </a:rPr>
                        <a:t>0.7741545893719807</a:t>
                      </a:r>
                      <a:endParaRPr lang="pt-BR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pt-BR" sz="2000" dirty="0">
                          <a:effectLst/>
                        </a:rPr>
                        <a:t>0.7780625222845342</a:t>
                      </a:r>
                      <a:endParaRPr lang="pt-BR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pt-BR" sz="2000" dirty="0">
                          <a:effectLst/>
                        </a:rPr>
                        <a:t>0.7741545893719807</a:t>
                      </a:r>
                      <a:endParaRPr lang="pt-BR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pt-BR" sz="2000">
                          <a:effectLst/>
                        </a:rPr>
                        <a:t>0.772871455662997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pt-BR" sz="2000" dirty="0">
                          <a:effectLst/>
                        </a:rPr>
                        <a:t>0.6316392998015883</a:t>
                      </a:r>
                      <a:endParaRPr lang="pt-BR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14300" marR="114300" marT="76200" marB="76200"/>
                </a:tc>
                <a:extLst>
                  <a:ext uri="{0D108BD9-81ED-4DB2-BD59-A6C34878D82A}">
                    <a16:rowId xmlns:a16="http://schemas.microsoft.com/office/drawing/2014/main" val="2956642060"/>
                  </a:ext>
                </a:extLst>
              </a:tr>
            </a:tbl>
          </a:graphicData>
        </a:graphic>
      </p:graphicFrame>
      <p:sp>
        <p:nvSpPr>
          <p:cNvPr id="69" name="Rectangle 13">
            <a:extLst>
              <a:ext uri="{FF2B5EF4-FFF2-40B4-BE49-F238E27FC236}">
                <a16:creationId xmlns:a16="http://schemas.microsoft.com/office/drawing/2014/main" id="{32471161-608B-AA73-94DA-7691C099A4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401735" y="13838397"/>
            <a:ext cx="323992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pic>
        <p:nvPicPr>
          <p:cNvPr id="70" name="Imagem 69">
            <a:extLst>
              <a:ext uri="{FF2B5EF4-FFF2-40B4-BE49-F238E27FC236}">
                <a16:creationId xmlns:a16="http://schemas.microsoft.com/office/drawing/2014/main" id="{969138C3-A6E4-9159-5704-5B9959E748AC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2090" y="33679722"/>
            <a:ext cx="3260105" cy="7060449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90;p1">
            <a:extLst>
              <a:ext uri="{FF2B5EF4-FFF2-40B4-BE49-F238E27FC236}">
                <a16:creationId xmlns:a16="http://schemas.microsoft.com/office/drawing/2014/main" id="{2E3296AD-A764-9F20-D515-3DB7DBAB54DB}"/>
              </a:ext>
            </a:extLst>
          </p:cNvPr>
          <p:cNvSpPr txBox="1"/>
          <p:nvPr/>
        </p:nvSpPr>
        <p:spPr>
          <a:xfrm>
            <a:off x="16369323" y="37777711"/>
            <a:ext cx="3330389" cy="769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 b="0" i="0" u="none" strike="noStrike" cap="none" dirty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 </a:t>
            </a:r>
            <a:r>
              <a:rPr lang="pt-BR" sz="4400" b="1" i="0" u="none" strike="noStrike" cap="none" dirty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6. APOIO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1B9F3CB-991B-8750-98F0-CE2D00CD05F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132408" y="37927147"/>
            <a:ext cx="6342691" cy="3026596"/>
          </a:xfrm>
          <a:prstGeom prst="rect">
            <a:avLst/>
          </a:prstGeom>
        </p:spPr>
      </p:pic>
      <p:sp>
        <p:nvSpPr>
          <p:cNvPr id="14" name="Google Shape;95;p1">
            <a:extLst>
              <a:ext uri="{FF2B5EF4-FFF2-40B4-BE49-F238E27FC236}">
                <a16:creationId xmlns:a16="http://schemas.microsoft.com/office/drawing/2014/main" id="{8A849774-318A-074E-2ED1-C4AA843D1B4F}"/>
              </a:ext>
            </a:extLst>
          </p:cNvPr>
          <p:cNvSpPr txBox="1"/>
          <p:nvPr/>
        </p:nvSpPr>
        <p:spPr>
          <a:xfrm>
            <a:off x="16573034" y="21725786"/>
            <a:ext cx="14368182" cy="3108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just"/>
            <a:r>
              <a:rPr lang="pt-BR" sz="2800" dirty="0"/>
              <a:t>	A boa performance de modelos como o ResNet50 (acurácia de 0.822) e o YOLOv5 (mAP@.50 de 0.811) demonstra a eficácia da IA em extrair características clinicamente relevantes de imagens de Úlceras do Pé Diabético. A integração bem-sucedida desses modelos em um MVP funcional evidencia a viabilidade de traduzir essa precisão analítica em uma ferramenta clínica acessível. A solução aponta para um cenário onde a tecnologia móvel pode servir como um importante instrumento de suporte à decisão, auxiliando a padronizar avaliações e a otimizar o trabalho dos especialistas da saúde.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7DB6EF"/>
      </a:accent1>
      <a:accent2>
        <a:srgbClr val="C0504D"/>
      </a:accent2>
      <a:accent3>
        <a:srgbClr val="FFFFFF"/>
      </a:accent3>
      <a:accent4>
        <a:srgbClr val="000000"/>
      </a:accent4>
      <a:accent5>
        <a:srgbClr val="C0D7F5"/>
      </a:accent5>
      <a:accent6>
        <a:srgbClr val="AC4744"/>
      </a:accent6>
      <a:hlink>
        <a:srgbClr val="0066CC"/>
      </a:hlink>
      <a:folHlink>
        <a:srgbClr val="800080"/>
      </a:folHlink>
    </a:clrScheme>
    <a:fontScheme name="">
      <a:majorFont>
        <a:latin typeface="Arial"/>
        <a:ea typeface="Arial"/>
        <a:cs typeface=""/>
      </a:majorFont>
      <a:minorFont>
        <a:latin typeface="Arial"/>
        <a:ea typeface="Ari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7DB6EF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C0D7F5"/>
        </a:accent5>
        <a:accent6>
          <a:srgbClr val="AC4744"/>
        </a:accent6>
        <a:hlink>
          <a:srgbClr val="0066CC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3898</TotalTime>
  <Words>1197</Words>
  <Application>Microsoft Office PowerPoint</Application>
  <PresentationFormat>Personalizar</PresentationFormat>
  <Paragraphs>116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Arial</vt:lpstr>
      <vt:lpstr>Calibri</vt:lpstr>
      <vt:lpstr>Century Gothic</vt:lpstr>
      <vt:lpstr>Default Design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Renan Marques</dc:creator>
  <cp:lastModifiedBy>Edson Da Silva</cp:lastModifiedBy>
  <cp:revision>8</cp:revision>
  <dcterms:created xsi:type="dcterms:W3CDTF">2025-09-09T13:17:25Z</dcterms:created>
  <dcterms:modified xsi:type="dcterms:W3CDTF">2025-10-03T19:14:12Z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1234673FD60F413494A2125AB40FA8A6_13</vt:lpwstr>
  </property>
  <property fmtid="{D5CDD505-2E9C-101B-9397-08002B2CF9AE}" pid="3" name="KSOProductBuildVer">
    <vt:lpwstr>1046-12.2.0.22549</vt:lpwstr>
  </property>
</Properties>
</file>